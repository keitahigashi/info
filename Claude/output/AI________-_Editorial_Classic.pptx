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37650" y="609600"/>
            <a:ext cx="9525" cy="94488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1371600"/>
            <a:ext cx="120957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93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LITERACY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76326" y="1374775"/>
            <a:ext cx="127238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i="1" spc="49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Vol. 01 — Mindset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2170509"/>
            <a:ext cx="8156004" cy="481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0" b="1" spc="-132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AIとの </a:t>
            </a:r>
            <a:pPr algn="l" indent="0" marL="0">
              <a:lnSpc>
                <a:spcPct val="95000"/>
              </a:lnSpc>
              <a:buNone/>
            </a:pPr>
            <a:r>
              <a:rPr lang="en-US" sz="13200" b="1" spc="-132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付き合い方</a:t>
            </a:r>
            <a:endParaRPr lang="en-US" sz="13200" dirty="0"/>
          </a:p>
        </p:txBody>
      </p:sp>
      <p:sp>
        <p:nvSpPr>
          <p:cNvPr id="6" name="Text 4"/>
          <p:cNvSpPr/>
          <p:nvPr/>
        </p:nvSpPr>
        <p:spPr>
          <a:xfrm>
            <a:off x="609600" y="7291090"/>
            <a:ext cx="70637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250" i="1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使いこなす前に知っておきたい、 心構えと基本原則。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09600" y="8820150"/>
            <a:ext cx="9335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AUDIENCE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9048750"/>
            <a:ext cx="9335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社内研修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847949" y="8820150"/>
            <a:ext cx="9533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47949" y="9048750"/>
            <a:ext cx="9533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4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06142" y="8820150"/>
            <a:ext cx="749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LENGTH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06142" y="9048750"/>
            <a:ext cx="10873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21 SLIDES</a:t>
            </a:r>
            <a:endParaRPr lang="en-US" sz="13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3601" y="1371600"/>
            <a:ext cx="7924800" cy="792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32040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MINDSET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87153" y="419100"/>
            <a:ext cx="92809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ISSUE 01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6391930" y="419100"/>
            <a:ext cx="136267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Today's Agenda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758086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B540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AGENDA — 本日のゴール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1657350"/>
            <a:ext cx="15697200" cy="1375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本日のゴールは、AIを「正しく怖がり、正しく使う」姿勢を 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身につける 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こと。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609600" y="3451820"/>
            <a:ext cx="5435600" cy="254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3705820"/>
            <a:ext cx="559866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01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09600" y="4848820"/>
            <a:ext cx="5598668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AIの正体を知る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" y="5408811"/>
            <a:ext cx="559866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35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仕組みと限界を理解し、過度な期待も恐怖も手放す。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26200" y="3451820"/>
            <a:ext cx="5435600" cy="254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200" y="3705820"/>
            <a:ext cx="559866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02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6426200" y="4848820"/>
            <a:ext cx="559866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3つの原則を 身につける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26200" y="5835452"/>
            <a:ext cx="559866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35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鵜呑みにしない／丸投げしない／育てる意識を持つ。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242800" y="3451820"/>
            <a:ext cx="5435600" cy="254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17" name="Text 15"/>
          <p:cNvSpPr/>
          <p:nvPr/>
        </p:nvSpPr>
        <p:spPr>
          <a:xfrm>
            <a:off x="12242800" y="3705820"/>
            <a:ext cx="559866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03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12242800" y="4848820"/>
            <a:ext cx="559866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明日から試せる 武器を持ち帰る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242800" y="5835452"/>
            <a:ext cx="559866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35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対話の型・小さな一歩・継続する姿勢。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9600" y="8610600"/>
            <a:ext cx="170688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1" name="Text 19"/>
          <p:cNvSpPr/>
          <p:nvPr/>
        </p:nvSpPr>
        <p:spPr>
          <a:xfrm>
            <a:off x="609600" y="8845550"/>
            <a:ext cx="1758086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「使い方」より「向き合い方」を学ぶ講座です。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" y="9652000"/>
            <a:ext cx="70485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AGENDA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8740478" y="9620250"/>
            <a:ext cx="7119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02 / 21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878399" y="9655175"/>
            <a:ext cx="87620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本日のゴール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3" name="Shape 1"/>
          <p:cNvSpPr/>
          <p:nvPr/>
        </p:nvSpPr>
        <p:spPr>
          <a:xfrm>
            <a:off x="9137650" y="0"/>
            <a:ext cx="9525" cy="10287000"/>
          </a:xfrm>
          <a:prstGeom prst="rect">
            <a:avLst/>
          </a:prstGeom>
          <a:solidFill>
            <a:srgbClr val="F3EDE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43000"/>
            <a:ext cx="784206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3" kern="0" dirty="0">
                <a:solidFill>
                  <a:srgbClr val="B540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ONE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62000" y="4287540"/>
            <a:ext cx="7842060" cy="112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800" b="1" dirty="0">
                <a:solidFill>
                  <a:srgbClr val="F3EDE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AIとは何か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762000" y="5605760"/>
            <a:ext cx="784206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F3EDE1">
                    <a:alpha val="70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まず、正体を知る。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62000" y="8959850"/>
            <a:ext cx="784206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F3EDE1">
                    <a:alpha val="5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 / 21 · AI MINDSET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9906001" y="3162300"/>
            <a:ext cx="7848600" cy="400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9000" spc="-1560" kern="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01</a:t>
            </a:r>
            <a:endParaRPr lang="en-US" sz="39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1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96936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AIとは何か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786299" y="419100"/>
            <a:ext cx="196830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§1 — The Nature of AI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5697200" cy="7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AIは「魔法」ではなく、次にくる言葉を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確率で選ぶ予測機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である。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09600" y="2364085"/>
            <a:ext cx="5334000" cy="6779915"/>
          </a:xfrm>
          <a:prstGeom prst="rect">
            <a:avLst/>
          </a:prstGeom>
          <a:solidFill>
            <a:srgbClr val="ECE4D3"/>
          </a:solidFill>
          <a:ln w="6350">
            <a:solidFill>
              <a:srgbClr val="1C1A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6550" y="2503785"/>
            <a:ext cx="387350" cy="9525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9" name="Shape 7"/>
          <p:cNvSpPr/>
          <p:nvPr/>
        </p:nvSpPr>
        <p:spPr>
          <a:xfrm>
            <a:off x="5797550" y="2503785"/>
            <a:ext cx="9525" cy="387350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10" name="Shape 8"/>
          <p:cNvSpPr/>
          <p:nvPr/>
        </p:nvSpPr>
        <p:spPr>
          <a:xfrm>
            <a:off x="749300" y="8997950"/>
            <a:ext cx="387350" cy="9525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11" name="Shape 9"/>
          <p:cNvSpPr/>
          <p:nvPr/>
        </p:nvSpPr>
        <p:spPr>
          <a:xfrm>
            <a:off x="749300" y="8616950"/>
            <a:ext cx="9525" cy="387350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12" name="Text 10"/>
          <p:cNvSpPr/>
          <p:nvPr/>
        </p:nvSpPr>
        <p:spPr>
          <a:xfrm>
            <a:off x="958850" y="2713335"/>
            <a:ext cx="477456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— noun.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58850" y="4044752"/>
            <a:ext cx="4774565" cy="3158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50" b="1" spc="5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確率的 予測機 </a:t>
            </a:r>
            <a:pPr algn="l" indent="0" marL="0">
              <a:lnSpc>
                <a:spcPct val="105000"/>
              </a:lnSpc>
              <a:buNone/>
            </a:pPr>
            <a:r>
              <a:rPr lang="en-US" sz="2850" i="1" spc="5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Probabilistic Predictor</a:t>
            </a:r>
            <a:endParaRPr lang="en-US" sz="5850" dirty="0"/>
          </a:p>
        </p:txBody>
      </p:sp>
      <p:sp>
        <p:nvSpPr>
          <p:cNvPr id="14" name="Text 12"/>
          <p:cNvSpPr/>
          <p:nvPr/>
        </p:nvSpPr>
        <p:spPr>
          <a:xfrm>
            <a:off x="819785" y="8197850"/>
            <a:ext cx="4774565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i="1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膨大なテキストから 「それっぽい続き」を生成する装置。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515100" y="2364085"/>
            <a:ext cx="25400" cy="441920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16" name="Text 14"/>
          <p:cNvSpPr/>
          <p:nvPr/>
        </p:nvSpPr>
        <p:spPr>
          <a:xfrm>
            <a:off x="6731000" y="2402185"/>
            <a:ext cx="11282299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ここがポイント ― 大事なのは3つ。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15100" y="3034605"/>
            <a:ext cx="111633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8" name="Text 16"/>
          <p:cNvSpPr/>
          <p:nvPr/>
        </p:nvSpPr>
        <p:spPr>
          <a:xfrm>
            <a:off x="6515100" y="3231456"/>
            <a:ext cx="38100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①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10400" y="3231456"/>
            <a:ext cx="109880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「理解」していない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010400" y="3587055"/>
            <a:ext cx="10988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文の意味を把握しているのではなく、統計的にありそうな単語を並べているだけ。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15100" y="4272855"/>
            <a:ext cx="111633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2" name="Text 20"/>
          <p:cNvSpPr/>
          <p:nvPr/>
        </p:nvSpPr>
        <p:spPr>
          <a:xfrm>
            <a:off x="6515100" y="4469706"/>
            <a:ext cx="38100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10400" y="4469706"/>
            <a:ext cx="109880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「意図」もない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010400" y="4825305"/>
            <a:ext cx="10988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あなたを助けたい・だましたいといった動機は持たない。ただ確率計算を回している。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15100" y="6520756"/>
            <a:ext cx="111633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6" name="Shape 24"/>
          <p:cNvSpPr/>
          <p:nvPr/>
        </p:nvSpPr>
        <p:spPr>
          <a:xfrm>
            <a:off x="6515100" y="5511105"/>
            <a:ext cx="111633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7" name="Text 25"/>
          <p:cNvSpPr/>
          <p:nvPr/>
        </p:nvSpPr>
        <p:spPr>
          <a:xfrm>
            <a:off x="6515100" y="5707956"/>
            <a:ext cx="38100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③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010400" y="5707956"/>
            <a:ext cx="109880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だから嘘もつく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010400" y="6063555"/>
            <a:ext cx="10988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「知らない」と答えるのが苦手で、知らないことでも堂々と答える（= ハルシネーション）。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1" name="Text 29"/>
          <p:cNvSpPr/>
          <p:nvPr/>
        </p:nvSpPr>
        <p:spPr>
          <a:xfrm>
            <a:off x="609600" y="9652000"/>
            <a:ext cx="99139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§1 NATURE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8882757" y="9620250"/>
            <a:ext cx="7114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04 / 21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6875919" y="9655175"/>
            <a:ext cx="87868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確率的予測機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1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96936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AIとは何か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601058" y="419100"/>
            <a:ext cx="215354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§2 — Strengths &amp; Limits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5697200" cy="7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AIには明確な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得意分野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と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苦手分野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がある ― 適材適所で使う。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09600" y="2941935"/>
            <a:ext cx="8229600" cy="1905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2364085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◎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23950" y="2370435"/>
            <a:ext cx="1600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得意なこと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2915" y="3227685"/>
            <a:ext cx="8452485" cy="3073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文章生成・要約・翻訳</a:t>
            </a:r>
            <a:endParaRPr lang="en-US" sz="16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アイデア出し・たたき台作成</a:t>
            </a:r>
            <a:endParaRPr lang="en-US" sz="16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形式変換（表 ↔ 文章 ↔ コード）</a:t>
            </a:r>
            <a:endParaRPr lang="en-US" sz="16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壁打ち相手・文章添削</a:t>
            </a:r>
            <a:endParaRPr lang="en-US" sz="16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大量テキストの読解補助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448800" y="2941935"/>
            <a:ext cx="8229600" cy="1905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12" name="Text 10"/>
          <p:cNvSpPr/>
          <p:nvPr/>
        </p:nvSpPr>
        <p:spPr>
          <a:xfrm>
            <a:off x="9448800" y="2364085"/>
            <a:ext cx="38744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✕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893400" y="2370435"/>
            <a:ext cx="1600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苦手なこと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302115" y="3227685"/>
            <a:ext cx="8452485" cy="3073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厳密な計算・正確な数値</a:t>
            </a:r>
            <a:endParaRPr lang="en-US" sz="16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事実・出典の保証</a:t>
            </a:r>
            <a:endParaRPr lang="en-US" sz="16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最新情報（学習時点以降）</a:t>
            </a:r>
            <a:endParaRPr lang="en-US" sz="16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あなたの組織・個人の事情</a:t>
            </a:r>
            <a:endParaRPr lang="en-US" sz="16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価値判断・最終意思決定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" y="9652000"/>
            <a:ext cx="901799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§2 LIMITS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7064574" y="9620250"/>
            <a:ext cx="7119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05 / 21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329643" y="9655175"/>
            <a:ext cx="447922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「何でも聞ける魔法」ではなく、「得意分野が明確な専門家」として扱う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1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96936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AIとは何か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605126" y="419100"/>
            <a:ext cx="21494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§3 — A Useful Metaphor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5697200" cy="7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AIは「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知識豊富だが、あなたの事情を知らない新人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」と考える。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09600" y="4421485"/>
            <a:ext cx="38100" cy="2665016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8" name="Text 6"/>
          <p:cNvSpPr/>
          <p:nvPr/>
        </p:nvSpPr>
        <p:spPr>
          <a:xfrm>
            <a:off x="1028700" y="4650085"/>
            <a:ext cx="984999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35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“</a:t>
            </a:r>
            <a:endParaRPr lang="en-US" sz="13500" dirty="0"/>
          </a:p>
        </p:txBody>
      </p:sp>
      <p:sp>
        <p:nvSpPr>
          <p:cNvPr id="9" name="Text 7"/>
          <p:cNvSpPr/>
          <p:nvPr/>
        </p:nvSpPr>
        <p:spPr>
          <a:xfrm>
            <a:off x="1028700" y="5735935"/>
            <a:ext cx="9849993" cy="1160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i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優秀な新入社員に仕事を頼むとき、何も説明せずに丸投げしますか？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1201401" y="2364085"/>
            <a:ext cx="64770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1" name="Text 9"/>
          <p:cNvSpPr/>
          <p:nvPr/>
        </p:nvSpPr>
        <p:spPr>
          <a:xfrm>
            <a:off x="11201401" y="2579985"/>
            <a:ext cx="1981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知識は豊富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373101" y="2579985"/>
            <a:ext cx="443445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7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幅広い分野の情報を持つが、網羅的・最新ではない。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11201401" y="3278485"/>
            <a:ext cx="64770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4" name="Text 12"/>
          <p:cNvSpPr/>
          <p:nvPr/>
        </p:nvSpPr>
        <p:spPr>
          <a:xfrm>
            <a:off x="11201401" y="3494385"/>
            <a:ext cx="1981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あなたを知らない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373101" y="3494385"/>
            <a:ext cx="443445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7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あなたの組織・顧客・目的・好みを知らない。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1201401" y="4916785"/>
            <a:ext cx="64770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01401" y="4192885"/>
            <a:ext cx="64770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8" name="Text 16"/>
          <p:cNvSpPr/>
          <p:nvPr/>
        </p:nvSpPr>
        <p:spPr>
          <a:xfrm>
            <a:off x="11201401" y="4408785"/>
            <a:ext cx="1981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指示で応えてくれる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373101" y="4408785"/>
            <a:ext cx="443445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7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背景・目的・制約を伝えれば的確に返してくれる。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21" name="Text 19"/>
          <p:cNvSpPr/>
          <p:nvPr/>
        </p:nvSpPr>
        <p:spPr>
          <a:xfrm>
            <a:off x="609600" y="9652000"/>
            <a:ext cx="122505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§3 METAPHOR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8865593" y="9620250"/>
            <a:ext cx="7119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06 / 21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608525" y="9655175"/>
            <a:ext cx="114607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新人として接する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3" name="Shape 1"/>
          <p:cNvSpPr/>
          <p:nvPr/>
        </p:nvSpPr>
        <p:spPr>
          <a:xfrm>
            <a:off x="9137650" y="0"/>
            <a:ext cx="9525" cy="10287000"/>
          </a:xfrm>
          <a:prstGeom prst="rect">
            <a:avLst/>
          </a:prstGeom>
          <a:solidFill>
            <a:srgbClr val="F3EDE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43000"/>
            <a:ext cx="784206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3" kern="0" dirty="0">
                <a:solidFill>
                  <a:srgbClr val="B540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TWO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62000" y="3742730"/>
            <a:ext cx="7842060" cy="2217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800" b="1" dirty="0">
                <a:solidFill>
                  <a:srgbClr val="F3EDE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AIと向き合う 3つの原則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762000" y="6150571"/>
            <a:ext cx="784206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F3EDE1">
                    <a:alpha val="70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鵜呑みにしない・丸投げしない・育てる。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62000" y="8959850"/>
            <a:ext cx="784206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F3EDE1">
                    <a:alpha val="5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 / 21 · AI MINDSET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9906001" y="3162300"/>
            <a:ext cx="7848600" cy="400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9000" spc="-1560" kern="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02</a:t>
            </a:r>
            <a:endParaRPr lang="en-US" sz="39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2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88632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3つの原則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6522800" y="419100"/>
            <a:ext cx="123180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Principle One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①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2095500" y="1758950"/>
            <a:ext cx="4870833" cy="7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鵜呑みに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しない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2095500" y="2503785"/>
            <a:ext cx="4870833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AIは平気で「もっともらしい嘘」をつく。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09600" y="3507085"/>
            <a:ext cx="82677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3221335"/>
            <a:ext cx="85157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よくある「嘘」の例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9583" y="3703935"/>
            <a:ext cx="8483918" cy="236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存在しない論文・書籍を堂々と引用</a:t>
            </a:r>
            <a:endParaRPr lang="en-US" sz="15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実在しない判例・法律条文を提示</a:t>
            </a:r>
            <a:endParaRPr lang="en-US" sz="15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古い統計を「最新」と称して出す</a:t>
            </a:r>
            <a:endParaRPr lang="en-US" sz="15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実在しないURL・API・関数名を生成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9410700" y="3507085"/>
            <a:ext cx="82677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3" name="Text 11"/>
          <p:cNvSpPr/>
          <p:nvPr/>
        </p:nvSpPr>
        <p:spPr>
          <a:xfrm>
            <a:off x="9410700" y="3221335"/>
            <a:ext cx="85157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検証の習慣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410700" y="4569123"/>
            <a:ext cx="82677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5" name="Text 13"/>
          <p:cNvSpPr/>
          <p:nvPr/>
        </p:nvSpPr>
        <p:spPr>
          <a:xfrm>
            <a:off x="9410700" y="3856335"/>
            <a:ext cx="851573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一次ソース確認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10700" y="4173835"/>
            <a:ext cx="851573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重要な情報は必ず公式・原典で裏を取る。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9410700" y="5440660"/>
            <a:ext cx="82677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8" name="Text 16"/>
          <p:cNvSpPr/>
          <p:nvPr/>
        </p:nvSpPr>
        <p:spPr>
          <a:xfrm>
            <a:off x="9410700" y="4727873"/>
            <a:ext cx="851573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数字・固有名詞に注意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10700" y="5045373"/>
            <a:ext cx="851573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統計値・人名・日付・製品名は特に誤りやすい。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9410700" y="6312198"/>
            <a:ext cx="82677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1" name="Text 19"/>
          <p:cNvSpPr/>
          <p:nvPr/>
        </p:nvSpPr>
        <p:spPr>
          <a:xfrm>
            <a:off x="9410700" y="5599410"/>
            <a:ext cx="851573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聞き返す癖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0700" y="5916910"/>
            <a:ext cx="851573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「それは本当に正しい？」「出典は？」を繰り返す。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410700" y="6470948"/>
            <a:ext cx="851573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専門領域では過信しない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10700" y="6788448"/>
            <a:ext cx="851573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医療・法律・税務は必ず専門家に確認。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26" name="Text 24"/>
          <p:cNvSpPr/>
          <p:nvPr/>
        </p:nvSpPr>
        <p:spPr>
          <a:xfrm>
            <a:off x="609600" y="9652000"/>
            <a:ext cx="10617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PRINCIPLE 1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8850809" y="9620250"/>
            <a:ext cx="7119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08 / 21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6742272" y="9655175"/>
            <a:ext cx="101232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鵜呑みにしない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2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88632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3つの原則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6514068" y="419100"/>
            <a:ext cx="12405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Principle Two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②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2095500" y="1758950"/>
            <a:ext cx="4615754" cy="7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丸投げ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しない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2095500" y="2503785"/>
            <a:ext cx="4615754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AIは判断者ではなく、あくまで補助者。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09600" y="3145135"/>
            <a:ext cx="17068800" cy="2371031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02335"/>
            <a:ext cx="164820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「AIに聞いたから」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4059535"/>
            <a:ext cx="1648206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EDE1">
                    <a:alpha val="60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— ではなく、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472285"/>
            <a:ext cx="164820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300" b="1" dirty="0">
                <a:solidFill>
                  <a:srgbClr val="F3EDE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「自分がAIを使って、こう判断した」が正解。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609600" y="5859066"/>
            <a:ext cx="5537200" cy="3284934"/>
          </a:xfrm>
          <a:prstGeom prst="rect">
            <a:avLst/>
          </a:prstGeom>
          <a:solidFill>
            <a:srgbClr val="ECE4D3"/>
          </a:solidFill>
          <a:ln w="6350">
            <a:solidFill>
              <a:srgbClr val="1C1A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650" y="6132116"/>
            <a:ext cx="514083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B540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やりがちなNG / 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2650" y="6411516"/>
            <a:ext cx="514083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丸写し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82650" y="6887766"/>
            <a:ext cx="5140833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出力をそのまま上司や顧客に提出する。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75400" y="5859066"/>
            <a:ext cx="5537200" cy="3284934"/>
          </a:xfrm>
          <a:prstGeom prst="rect">
            <a:avLst/>
          </a:prstGeom>
          <a:solidFill>
            <a:srgbClr val="ECE4D3"/>
          </a:solidFill>
          <a:ln w="6350">
            <a:solidFill>
              <a:srgbClr val="1C1A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8450" y="6132116"/>
            <a:ext cx="514083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B540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やりがちなNG / 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48450" y="6411516"/>
            <a:ext cx="514083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流される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648450" y="6887766"/>
            <a:ext cx="5140833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AIの提案が最適と思い込み、自分で考えない。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141200" y="5859066"/>
            <a:ext cx="5537200" cy="3284934"/>
          </a:xfrm>
          <a:prstGeom prst="rect">
            <a:avLst/>
          </a:prstGeom>
          <a:solidFill>
            <a:srgbClr val="ECE4D3"/>
          </a:solidFill>
          <a:ln w="6350">
            <a:solidFill>
              <a:srgbClr val="1C1A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414250" y="6132116"/>
            <a:ext cx="514083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B540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やりがちなNG / 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414250" y="6411516"/>
            <a:ext cx="514083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責任転嫁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414250" y="6887766"/>
            <a:ext cx="5140833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「AIがそう言った」で失敗を片付ける。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26" name="Text 24"/>
          <p:cNvSpPr/>
          <p:nvPr/>
        </p:nvSpPr>
        <p:spPr>
          <a:xfrm>
            <a:off x="609600" y="9652000"/>
            <a:ext cx="10617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PRINCIPLE 2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8917285" y="9620250"/>
            <a:ext cx="7126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09 / 21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6875919" y="9655175"/>
            <a:ext cx="87868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丸投げしない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2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88632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3つの原則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6364447" y="419100"/>
            <a:ext cx="139015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Principle Three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③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2095500" y="1758950"/>
            <a:ext cx="4122150" cy="7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育てる意識を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持つ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2095500" y="2503785"/>
            <a:ext cx="41221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対話を重ねるほど精度は上がる。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09600" y="4135735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" y="2992735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" y="3288010"/>
            <a:ext cx="816254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93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検索エンジンの発想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" y="3522960"/>
            <a:ext cx="816254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一発で正解を引く。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15400" y="3227685"/>
            <a:ext cx="533400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→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753601" y="3288010"/>
            <a:ext cx="816254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93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AIとの付き合い方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9753601" y="3522960"/>
            <a:ext cx="816254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対話で精度を上げる。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9600" y="4484985"/>
            <a:ext cx="4067175" cy="254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" y="4777085"/>
            <a:ext cx="41891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09600" y="5443835"/>
            <a:ext cx="41891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最初の出力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9600" y="5862935"/>
            <a:ext cx="41891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60点のたたき台として受け取る。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43475" y="4484985"/>
            <a:ext cx="4067175" cy="254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21" name="Text 19"/>
          <p:cNvSpPr/>
          <p:nvPr/>
        </p:nvSpPr>
        <p:spPr>
          <a:xfrm>
            <a:off x="4943475" y="4777085"/>
            <a:ext cx="41891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4943475" y="5443835"/>
            <a:ext cx="41891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修正指示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43475" y="5862935"/>
            <a:ext cx="41891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「もっと〜に」「〜は削って」と伝える。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77350" y="4484985"/>
            <a:ext cx="4067175" cy="254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25" name="Text 23"/>
          <p:cNvSpPr/>
          <p:nvPr/>
        </p:nvSpPr>
        <p:spPr>
          <a:xfrm>
            <a:off x="9277350" y="4777085"/>
            <a:ext cx="41891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9277350" y="5443835"/>
            <a:ext cx="41891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再出力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7350" y="5862935"/>
            <a:ext cx="41891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80点まで上がる。必要なら繰り返す。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611226" y="4484985"/>
            <a:ext cx="4067175" cy="254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29" name="Text 27"/>
          <p:cNvSpPr/>
          <p:nvPr/>
        </p:nvSpPr>
        <p:spPr>
          <a:xfrm>
            <a:off x="13611226" y="4777085"/>
            <a:ext cx="41891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13611226" y="5443835"/>
            <a:ext cx="41891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完成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611226" y="5862935"/>
            <a:ext cx="41891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自分の意図と合致した成果物。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3" name="Text 31"/>
          <p:cNvSpPr/>
          <p:nvPr/>
        </p:nvSpPr>
        <p:spPr>
          <a:xfrm>
            <a:off x="609600" y="9652000"/>
            <a:ext cx="10617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PRINCIPLE 3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8991997" y="9620250"/>
            <a:ext cx="6971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10 / 21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7009666" y="9655175"/>
            <a:ext cx="74493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育てる意識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2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88632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3つの原則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016262" y="419100"/>
            <a:ext cx="274200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Case Studies — Failure Patterns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5697200" cy="7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失敗のほとんどは、AIの性能ではなく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使う側の姿勢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が原因。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09600" y="2364085"/>
            <a:ext cx="5435600" cy="254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2579985"/>
            <a:ext cx="559866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09600" y="3532485"/>
            <a:ext cx="5598668" cy="52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コピペ事故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09600" y="4250035"/>
            <a:ext cx="54356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" y="4427835"/>
            <a:ext cx="762000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症状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47800" y="4389735"/>
            <a:ext cx="4735322" cy="305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75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出力を確認せず、そのまま使って誤情報を拡散。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609600" y="4790182"/>
            <a:ext cx="54356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" y="4967982"/>
            <a:ext cx="762000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47800" y="4929882"/>
            <a:ext cx="4735322" cy="305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75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必ず検証してから使う。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6426200" y="2364085"/>
            <a:ext cx="5435600" cy="254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17" name="Text 15"/>
          <p:cNvSpPr/>
          <p:nvPr/>
        </p:nvSpPr>
        <p:spPr>
          <a:xfrm>
            <a:off x="6426200" y="2579985"/>
            <a:ext cx="559866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02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6426200" y="3532485"/>
            <a:ext cx="5598668" cy="52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曖昧指示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6426200" y="4250035"/>
            <a:ext cx="54356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0" name="Text 18"/>
          <p:cNvSpPr/>
          <p:nvPr/>
        </p:nvSpPr>
        <p:spPr>
          <a:xfrm>
            <a:off x="6426200" y="4427835"/>
            <a:ext cx="762000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症状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64400" y="4389735"/>
            <a:ext cx="4735322" cy="305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75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「いい感じに」だけで期待外れ → AIのせいにする。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6426200" y="4790182"/>
            <a:ext cx="54356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3" name="Text 21"/>
          <p:cNvSpPr/>
          <p:nvPr/>
        </p:nvSpPr>
        <p:spPr>
          <a:xfrm>
            <a:off x="6426200" y="4967982"/>
            <a:ext cx="762000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4400" y="4929882"/>
            <a:ext cx="4735322" cy="305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75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目的・制約・形式を明示する。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12242800" y="2364085"/>
            <a:ext cx="5435600" cy="254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26" name="Text 24"/>
          <p:cNvSpPr/>
          <p:nvPr/>
        </p:nvSpPr>
        <p:spPr>
          <a:xfrm>
            <a:off x="12242800" y="2579985"/>
            <a:ext cx="559866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03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12242800" y="3532485"/>
            <a:ext cx="5598668" cy="52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エラー放置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12242800" y="4250035"/>
            <a:ext cx="54356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9" name="Text 27"/>
          <p:cNvSpPr/>
          <p:nvPr/>
        </p:nvSpPr>
        <p:spPr>
          <a:xfrm>
            <a:off x="12242800" y="4427835"/>
            <a:ext cx="762000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症状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081000" y="4389735"/>
            <a:ext cx="4735322" cy="305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75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うまくいかないとすぐ諦める・AIを見限る。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12242800" y="4790182"/>
            <a:ext cx="54356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32" name="Text 30"/>
          <p:cNvSpPr/>
          <p:nvPr/>
        </p:nvSpPr>
        <p:spPr>
          <a:xfrm>
            <a:off x="12242800" y="4967982"/>
            <a:ext cx="762000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081000" y="4929882"/>
            <a:ext cx="4735322" cy="305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75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言い方を変えれば解決することが多い。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5" name="Text 33"/>
          <p:cNvSpPr/>
          <p:nvPr/>
        </p:nvSpPr>
        <p:spPr>
          <a:xfrm>
            <a:off x="609600" y="9652000"/>
            <a:ext cx="57487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CASES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7956054" y="9620250"/>
            <a:ext cx="6823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11 / 21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5409863" y="9655175"/>
            <a:ext cx="234473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ツールではなく、自分の使い方を疑う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2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88632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3つの原則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077381" y="419100"/>
            <a:ext cx="267905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Boundaries — When Not to Use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5697200" cy="7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「便利」で境界を越えると信用を失う ― 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使わない勇気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も心構え。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09600" y="2364085"/>
            <a:ext cx="82296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2560935"/>
            <a:ext cx="495300" cy="2850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19200" y="2560935"/>
            <a:ext cx="78486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機密・個人情報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19200" y="2992735"/>
            <a:ext cx="7848600" cy="32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7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会社の機密データ、顧客個人情報は原則として入力しない。社内ルールを確認する。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9448800" y="2364085"/>
            <a:ext cx="82296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2" name="Text 10"/>
          <p:cNvSpPr/>
          <p:nvPr/>
        </p:nvSpPr>
        <p:spPr>
          <a:xfrm>
            <a:off x="9448800" y="2560935"/>
            <a:ext cx="495300" cy="2850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058401" y="2560935"/>
            <a:ext cx="78486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専門判断の最終化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058401" y="2992735"/>
            <a:ext cx="7848600" cy="32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7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医療・法律・税務・投資の最終決定。必ず資格を持つ専門家に確認する。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609600" y="5944493"/>
            <a:ext cx="82296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" y="6141343"/>
            <a:ext cx="495300" cy="2850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19200" y="6141343"/>
            <a:ext cx="78486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人を評価する文章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19200" y="6573143"/>
            <a:ext cx="7848600" cy="32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7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人事評価・採用合否・叱責など、人間関係の重要判断を丸投げしない。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9448800" y="5944493"/>
            <a:ext cx="82296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20" name="Text 18"/>
          <p:cNvSpPr/>
          <p:nvPr/>
        </p:nvSpPr>
        <p:spPr>
          <a:xfrm>
            <a:off x="9448800" y="6141343"/>
            <a:ext cx="495300" cy="2850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058401" y="6141343"/>
            <a:ext cx="78486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ルール違反になる場面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058401" y="6573143"/>
            <a:ext cx="7848600" cy="32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7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試験・論文・著作物の規約違反になる使い方は、信用と将来を失う。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24" name="Text 22"/>
          <p:cNvSpPr/>
          <p:nvPr/>
        </p:nvSpPr>
        <p:spPr>
          <a:xfrm>
            <a:off x="609600" y="9652000"/>
            <a:ext cx="109626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BOUNDARIES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7337525" y="9620250"/>
            <a:ext cx="6972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12 / 21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666391" y="9655175"/>
            <a:ext cx="413237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使っていい場面／使ってはいけない場面の線引きは、使う側の責任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2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88632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3つの原則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6004481" y="419100"/>
            <a:ext cx="175012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Ethics — Self-Check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5697200" cy="7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「便利」と「正しい」は別問題 ― 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技術は先に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、ルールは後から。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09600" y="2364085"/>
            <a:ext cx="121539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2560935"/>
            <a:ext cx="1981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入力データの扱い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0" y="2560935"/>
            <a:ext cx="1032090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入力した内容が学習に使われる可能性がある。機密はサービス規約を確認してから。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" y="3030835"/>
            <a:ext cx="121539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" y="3227685"/>
            <a:ext cx="1981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著作権とAI生成物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3227685"/>
            <a:ext cx="1032090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生成物の著作権はまだグレー。商用利用時は特に注意が必要。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" y="3697585"/>
            <a:ext cx="121539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" y="3894435"/>
            <a:ext cx="1981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AI利用の明示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3894435"/>
            <a:ext cx="1032090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AIが書いたことを隠すべきでない場面がある（学術・報道・契約など）。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600" y="5031085"/>
            <a:ext cx="121539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600" y="4364335"/>
            <a:ext cx="121539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" y="4561185"/>
            <a:ext cx="1981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バイアスと差別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4561185"/>
            <a:ext cx="1032090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学習データに含まれる偏見がそのまま出力される。最終チェックは人間の責任。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296901" y="2364085"/>
            <a:ext cx="4381500" cy="3352106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21" name="Shape 19"/>
          <p:cNvSpPr/>
          <p:nvPr/>
        </p:nvSpPr>
        <p:spPr>
          <a:xfrm>
            <a:off x="13296901" y="2364085"/>
            <a:ext cx="4381500" cy="57150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22" name="Text 20"/>
          <p:cNvSpPr/>
          <p:nvPr/>
        </p:nvSpPr>
        <p:spPr>
          <a:xfrm>
            <a:off x="13677901" y="2802235"/>
            <a:ext cx="372808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0" kern="0" dirty="0">
                <a:solidFill>
                  <a:srgbClr val="B540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SELF-CHECK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677901" y="3195935"/>
            <a:ext cx="3728085" cy="152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3EDE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これは、 </a:t>
            </a:r>
            <a:pPr algn="l" indent="0" marL="0">
              <a:lnSpc>
                <a:spcPct val="145000"/>
              </a:lnSpc>
              <a:buNone/>
            </a:pPr>
            <a:r>
              <a:rPr lang="en-US" sz="2700" b="1" i="1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人に見せられる </a:t>
            </a:r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3EDE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使い方か？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13677901" y="4916091"/>
            <a:ext cx="3619500" cy="9525"/>
          </a:xfrm>
          <a:prstGeom prst="rect">
            <a:avLst/>
          </a:prstGeom>
          <a:solidFill>
            <a:srgbClr val="F3EDE1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3677901" y="5112941"/>
            <a:ext cx="372808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3EDE1">
                    <a:alpha val="65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判断に迷ったら、この問いを自分に投げかける。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27" name="Text 25"/>
          <p:cNvSpPr/>
          <p:nvPr/>
        </p:nvSpPr>
        <p:spPr>
          <a:xfrm>
            <a:off x="609600" y="9652000"/>
            <a:ext cx="647601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ETHICS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8749110" y="9620250"/>
            <a:ext cx="6971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13 / 21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6938129" y="9655175"/>
            <a:ext cx="81647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Self-Check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3" name="Shape 1"/>
          <p:cNvSpPr/>
          <p:nvPr/>
        </p:nvSpPr>
        <p:spPr>
          <a:xfrm>
            <a:off x="9137650" y="0"/>
            <a:ext cx="9525" cy="10287000"/>
          </a:xfrm>
          <a:prstGeom prst="rect">
            <a:avLst/>
          </a:prstGeom>
          <a:solidFill>
            <a:srgbClr val="F3EDE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43000"/>
            <a:ext cx="784206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3" kern="0" dirty="0">
                <a:solidFill>
                  <a:srgbClr val="B540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THREE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62000" y="3742730"/>
            <a:ext cx="7842060" cy="2217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800" b="1" dirty="0">
                <a:solidFill>
                  <a:srgbClr val="F3EDE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基本的な 対話の考え方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762000" y="6150571"/>
            <a:ext cx="784206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F3EDE1">
                    <a:alpha val="70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言語化できないものは、AIには伝わらない。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62000" y="8959850"/>
            <a:ext cx="784206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F3EDE1">
                    <a:alpha val="5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 / 21 · AI MINDSET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9906001" y="3162300"/>
            <a:ext cx="7848600" cy="400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9000" spc="-1560" kern="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03</a:t>
            </a:r>
            <a:endParaRPr lang="en-US" sz="39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3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112206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対話の考え方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6102013" y="419100"/>
            <a:ext cx="165258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The Four Elements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5697200" cy="1375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「役割・目的・制約・出力形式」の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4要素 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で回答の質が2〜3倍に上がる。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09600" y="3032720"/>
            <a:ext cx="4067175" cy="6111280"/>
          </a:xfrm>
          <a:prstGeom prst="rect">
            <a:avLst/>
          </a:prstGeom>
          <a:solidFill>
            <a:srgbClr val="ECE4D3"/>
          </a:solidFill>
          <a:ln w="6350">
            <a:solidFill>
              <a:srgbClr val="1C1A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2650" y="3343870"/>
            <a:ext cx="36267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役</a:t>
            </a:r>
            <a:endParaRPr lang="en-US" sz="9000" dirty="0"/>
          </a:p>
        </p:txBody>
      </p:sp>
      <p:sp>
        <p:nvSpPr>
          <p:cNvPr id="9" name="Shape 7"/>
          <p:cNvSpPr/>
          <p:nvPr/>
        </p:nvSpPr>
        <p:spPr>
          <a:xfrm>
            <a:off x="882650" y="5191720"/>
            <a:ext cx="3521075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0" name="Text 8"/>
          <p:cNvSpPr/>
          <p:nvPr/>
        </p:nvSpPr>
        <p:spPr>
          <a:xfrm>
            <a:off x="882650" y="4677370"/>
            <a:ext cx="36267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役割 </a:t>
            </a:r>
            <a:pPr algn="l"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/ Role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82650" y="5350471"/>
            <a:ext cx="3626707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「あなたはプロの編集者です」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2650" y="5685731"/>
            <a:ext cx="3626707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「小学校の先生として答えて」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43475" y="3032720"/>
            <a:ext cx="4067175" cy="6111280"/>
          </a:xfrm>
          <a:prstGeom prst="rect">
            <a:avLst/>
          </a:prstGeom>
          <a:solidFill>
            <a:srgbClr val="ECE4D3"/>
          </a:solidFill>
          <a:ln w="6350">
            <a:solidFill>
              <a:srgbClr val="1C1A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6525" y="3343870"/>
            <a:ext cx="36267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的</a:t>
            </a:r>
            <a:endParaRPr lang="en-US" sz="9000" dirty="0"/>
          </a:p>
        </p:txBody>
      </p:sp>
      <p:sp>
        <p:nvSpPr>
          <p:cNvPr id="15" name="Shape 13"/>
          <p:cNvSpPr/>
          <p:nvPr/>
        </p:nvSpPr>
        <p:spPr>
          <a:xfrm>
            <a:off x="5216525" y="5191720"/>
            <a:ext cx="3521075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6" name="Text 14"/>
          <p:cNvSpPr/>
          <p:nvPr/>
        </p:nvSpPr>
        <p:spPr>
          <a:xfrm>
            <a:off x="5216525" y="4677370"/>
            <a:ext cx="36267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目的 </a:t>
            </a:r>
            <a:pPr algn="l"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/ Goal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216525" y="5350471"/>
            <a:ext cx="3626707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「初心者向けの記事にしたい」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6525" y="5685731"/>
            <a:ext cx="3626707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「意思決定の材料が欲しい」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77350" y="3032720"/>
            <a:ext cx="4067175" cy="6111280"/>
          </a:xfrm>
          <a:prstGeom prst="rect">
            <a:avLst/>
          </a:prstGeom>
          <a:solidFill>
            <a:srgbClr val="ECE4D3"/>
          </a:solidFill>
          <a:ln w="6350">
            <a:solidFill>
              <a:srgbClr val="1C1A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50400" y="3343870"/>
            <a:ext cx="36267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制</a:t>
            </a:r>
            <a:endParaRPr lang="en-US" sz="9000" dirty="0"/>
          </a:p>
        </p:txBody>
      </p:sp>
      <p:sp>
        <p:nvSpPr>
          <p:cNvPr id="21" name="Shape 19"/>
          <p:cNvSpPr/>
          <p:nvPr/>
        </p:nvSpPr>
        <p:spPr>
          <a:xfrm>
            <a:off x="9550400" y="5191720"/>
            <a:ext cx="3521075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2" name="Text 20"/>
          <p:cNvSpPr/>
          <p:nvPr/>
        </p:nvSpPr>
        <p:spPr>
          <a:xfrm>
            <a:off x="9550400" y="4677370"/>
            <a:ext cx="36267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制約 </a:t>
            </a:r>
            <a:pPr algn="l"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/ Constraint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550400" y="5350471"/>
            <a:ext cx="3626707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「500字以内」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0400" y="5685731"/>
            <a:ext cx="3626707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「専門用語は避ける」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611226" y="3032720"/>
            <a:ext cx="4067175" cy="6111280"/>
          </a:xfrm>
          <a:prstGeom prst="rect">
            <a:avLst/>
          </a:prstGeom>
          <a:solidFill>
            <a:srgbClr val="ECE4D3"/>
          </a:solidFill>
          <a:ln w="6350">
            <a:solidFill>
              <a:srgbClr val="1C1A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884275" y="3343870"/>
            <a:ext cx="36267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形</a:t>
            </a:r>
            <a:endParaRPr lang="en-US" sz="9000" dirty="0"/>
          </a:p>
        </p:txBody>
      </p:sp>
      <p:sp>
        <p:nvSpPr>
          <p:cNvPr id="27" name="Shape 25"/>
          <p:cNvSpPr/>
          <p:nvPr/>
        </p:nvSpPr>
        <p:spPr>
          <a:xfrm>
            <a:off x="13884275" y="5191720"/>
            <a:ext cx="3521075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8" name="Text 26"/>
          <p:cNvSpPr/>
          <p:nvPr/>
        </p:nvSpPr>
        <p:spPr>
          <a:xfrm>
            <a:off x="13884275" y="4677370"/>
            <a:ext cx="36267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出力形式 </a:t>
            </a:r>
            <a:pPr algn="l"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/ Format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3884275" y="5350471"/>
            <a:ext cx="3626707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「見出し3つ+本文」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884275" y="5685731"/>
            <a:ext cx="3626707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「表形式で」「箇条書きで」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2" name="Text 30"/>
          <p:cNvSpPr/>
          <p:nvPr/>
        </p:nvSpPr>
        <p:spPr>
          <a:xfrm>
            <a:off x="609600" y="9652000"/>
            <a:ext cx="118715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§1 ELEMENTS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8078986" y="9620250"/>
            <a:ext cx="6972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15 / 21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5058430" y="9655175"/>
            <a:ext cx="269856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面倒なら「目的」と「出力形式」の2つから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3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112206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対話の考え方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370672" y="419100"/>
            <a:ext cx="2383929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Specificity — Before / After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5697200" cy="7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AIは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空気を読めない 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― あなたの頭の中を具体的に言語化する。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09600" y="2821285"/>
            <a:ext cx="17068800" cy="1905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2497435"/>
            <a:ext cx="83980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✕ 曖昧な指示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25000" y="2497435"/>
            <a:ext cx="83980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B540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 具体的な指示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600" y="3786485"/>
            <a:ext cx="170688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" y="3189585"/>
            <a:ext cx="83980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trike="sngStrike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「いい感じにして」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24900" y="3126085"/>
            <a:ext cx="838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525000" y="3189585"/>
            <a:ext cx="83980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「30代女性向けに、親しみやすい口調で」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9600" y="4662785"/>
            <a:ext cx="170688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4065885"/>
            <a:ext cx="83980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trike="sngStrike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「短くして」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24900" y="4002385"/>
            <a:ext cx="838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525000" y="4065885"/>
            <a:ext cx="83980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「200字以内に要約して」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9600" y="5539085"/>
            <a:ext cx="170688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" y="4942185"/>
            <a:ext cx="83980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trike="sngStrike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「直して」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24900" y="4878685"/>
            <a:ext cx="838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525000" y="4942185"/>
            <a:ext cx="83980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「敬語を統一し、重複表現を削って」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9600" y="6415385"/>
            <a:ext cx="170688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" y="5818485"/>
            <a:ext cx="83980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trike="sngStrike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「考えて」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724900" y="5754985"/>
            <a:ext cx="838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525000" y="5818485"/>
            <a:ext cx="83980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「3案出して、メリット・デメリットを並べて」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27" name="Text 25"/>
          <p:cNvSpPr/>
          <p:nvPr/>
        </p:nvSpPr>
        <p:spPr>
          <a:xfrm>
            <a:off x="609600" y="9652000"/>
            <a:ext cx="1341239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§2 SPECIFICITY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8993089" y="9620250"/>
            <a:ext cx="6972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16 / 21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6732548" y="9655175"/>
            <a:ext cx="102205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Before / After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3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112206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対話の考え方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6560007" y="419100"/>
            <a:ext cx="119459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The Equation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609600" y="25209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428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8" name="Text 6"/>
          <p:cNvSpPr/>
          <p:nvPr/>
        </p:nvSpPr>
        <p:spPr>
          <a:xfrm>
            <a:off x="5388273" y="1717675"/>
            <a:ext cx="2602706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コンテキスト量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295779" y="1663700"/>
            <a:ext cx="32355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924131" y="1717675"/>
            <a:ext cx="15240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反復回数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0752931" y="1663700"/>
            <a:ext cx="32355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=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1381284" y="1717675"/>
            <a:ext cx="1594644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AI活用力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09600" y="2794000"/>
            <a:ext cx="849611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① コンテキストを渡す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09600" y="3206750"/>
            <a:ext cx="849611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What should AI know before answering?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600" y="3581400"/>
            <a:ext cx="824865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" y="3721100"/>
            <a:ext cx="140970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背景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33600" y="3721100"/>
            <a:ext cx="692639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12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なぜこれをやるのか、何に使うのか。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609600" y="4104481"/>
            <a:ext cx="824865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" y="4244181"/>
            <a:ext cx="140970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前提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133600" y="4244181"/>
            <a:ext cx="692639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12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読み手は誰か、どの程度の知識レベルか。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609600" y="4627563"/>
            <a:ext cx="824865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2" name="Text 20"/>
          <p:cNvSpPr/>
          <p:nvPr/>
        </p:nvSpPr>
        <p:spPr>
          <a:xfrm>
            <a:off x="609600" y="4767263"/>
            <a:ext cx="140970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制約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133600" y="4767263"/>
            <a:ext cx="692639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12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使ってはいけない表現、参考にするトーン。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609600" y="5150644"/>
            <a:ext cx="824865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5" name="Text 23"/>
          <p:cNvSpPr/>
          <p:nvPr/>
        </p:nvSpPr>
        <p:spPr>
          <a:xfrm>
            <a:off x="609600" y="5290344"/>
            <a:ext cx="140970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例示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133600" y="5290344"/>
            <a:ext cx="692639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125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「こういう感じで」というサンプルを添える。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9429750" y="2794000"/>
            <a:ext cx="849611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② 繰り返しで精度を上げる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429750" y="3206750"/>
            <a:ext cx="849611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一発勝負ではなく反復が前提。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09735" y="3581400"/>
            <a:ext cx="8444865" cy="199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「もっとカジュアルに」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「〇〇の観点を追加して」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「この部分だけ残して書き直して」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「半分の長さにして」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1" name="Text 29"/>
          <p:cNvSpPr/>
          <p:nvPr/>
        </p:nvSpPr>
        <p:spPr>
          <a:xfrm>
            <a:off x="609600" y="9652000"/>
            <a:ext cx="1179711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§3 EQUATION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7848104" y="9620250"/>
            <a:ext cx="6957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17 / 21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4602520" y="9655175"/>
            <a:ext cx="316815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プロの料理人も、一発で味を決めず何度も味見する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3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112206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対話の考え方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052081" y="419100"/>
            <a:ext cx="270511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Prompt Template — Copy &amp; Fill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5697200" cy="1375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明日から使える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プロンプトテンプレート 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― コピーして、穴を埋めるだけ。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09600" y="3032720"/>
            <a:ext cx="12534900" cy="611128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8" name="Shape 6"/>
          <p:cNvSpPr/>
          <p:nvPr/>
        </p:nvSpPr>
        <p:spPr>
          <a:xfrm>
            <a:off x="1028700" y="4187131"/>
            <a:ext cx="11696700" cy="9525"/>
          </a:xfrm>
          <a:prstGeom prst="rect">
            <a:avLst/>
          </a:prstGeom>
          <a:solidFill>
            <a:srgbClr val="F3EDE1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3585170"/>
            <a:ext cx="120476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B5401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【役割】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8700" y="3794720"/>
            <a:ext cx="12047601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F3ED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あなたは〇〇の専門家です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1028700" y="4928791"/>
            <a:ext cx="11696700" cy="9525"/>
          </a:xfrm>
          <a:prstGeom prst="rect">
            <a:avLst/>
          </a:prstGeom>
          <a:solidFill>
            <a:srgbClr val="F3EDE1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700" y="4326831"/>
            <a:ext cx="120476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B5401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【目的】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8700" y="4536381"/>
            <a:ext cx="12047601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F3ED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△△を作りたい / 知りたい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028700" y="5670451"/>
            <a:ext cx="11696700" cy="9525"/>
          </a:xfrm>
          <a:prstGeom prst="rect">
            <a:avLst/>
          </a:prstGeom>
          <a:solidFill>
            <a:srgbClr val="F3EDE1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700" y="5068491"/>
            <a:ext cx="120476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B5401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【前提】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8700" y="5278041"/>
            <a:ext cx="12047601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F3ED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読み手は□□、〜という背景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1028700" y="6412111"/>
            <a:ext cx="11696700" cy="9525"/>
          </a:xfrm>
          <a:prstGeom prst="rect">
            <a:avLst/>
          </a:prstGeom>
          <a:solidFill>
            <a:srgbClr val="F3EDE1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700" y="5810151"/>
            <a:ext cx="120476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B5401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【制約】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8700" y="6019701"/>
            <a:ext cx="12047601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F3ED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・〜すること ・〜は避けること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028700" y="6551811"/>
            <a:ext cx="120476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B5401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【出力形式】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6761361"/>
            <a:ext cx="12047601" cy="29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F3ED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見出し+箇条書き、◇◇字以内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3677901" y="3032720"/>
            <a:ext cx="412051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93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使い方のヒント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13677901" y="3388320"/>
            <a:ext cx="40005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4" name="Text 22"/>
          <p:cNvSpPr/>
          <p:nvPr/>
        </p:nvSpPr>
        <p:spPr>
          <a:xfrm>
            <a:off x="13677901" y="3566120"/>
            <a:ext cx="1028700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STEP 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801851" y="3566120"/>
            <a:ext cx="2962847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メモ帳に貼って保存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3677901" y="4011811"/>
            <a:ext cx="40005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7" name="Text 25"/>
          <p:cNvSpPr/>
          <p:nvPr/>
        </p:nvSpPr>
        <p:spPr>
          <a:xfrm>
            <a:off x="13677901" y="4189611"/>
            <a:ext cx="1028700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STEP 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801851" y="4189611"/>
            <a:ext cx="2962847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タスクごとに穴を埋める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3677901" y="4635302"/>
            <a:ext cx="40005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30" name="Text 28"/>
          <p:cNvSpPr/>
          <p:nvPr/>
        </p:nvSpPr>
        <p:spPr>
          <a:xfrm>
            <a:off x="13677901" y="4813102"/>
            <a:ext cx="1028700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STEP 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801851" y="4813102"/>
            <a:ext cx="2962847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慣れたら省略OK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3677901" y="5882283"/>
            <a:ext cx="40005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33" name="Shape 31"/>
          <p:cNvSpPr/>
          <p:nvPr/>
        </p:nvSpPr>
        <p:spPr>
          <a:xfrm>
            <a:off x="13677901" y="5258792"/>
            <a:ext cx="4000500" cy="9525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34" name="Text 32"/>
          <p:cNvSpPr/>
          <p:nvPr/>
        </p:nvSpPr>
        <p:spPr>
          <a:xfrm>
            <a:off x="13677901" y="5436592"/>
            <a:ext cx="1028700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STEP 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801851" y="5436592"/>
            <a:ext cx="2962847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自分なりの型に進化させる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7" name="Text 35"/>
          <p:cNvSpPr/>
          <p:nvPr/>
        </p:nvSpPr>
        <p:spPr>
          <a:xfrm>
            <a:off x="609600" y="9652000"/>
            <a:ext cx="88225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TEMPLATE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8849420" y="9620250"/>
            <a:ext cx="6972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18 / 21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6904098" y="9655175"/>
            <a:ext cx="85050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Copy &amp; Fill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3" name="Shape 1"/>
          <p:cNvSpPr/>
          <p:nvPr/>
        </p:nvSpPr>
        <p:spPr>
          <a:xfrm>
            <a:off x="9137650" y="0"/>
            <a:ext cx="9525" cy="10287000"/>
          </a:xfrm>
          <a:prstGeom prst="rect">
            <a:avLst/>
          </a:prstGeom>
          <a:solidFill>
            <a:srgbClr val="F3EDE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43000"/>
            <a:ext cx="784206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3" kern="0" dirty="0">
                <a:solidFill>
                  <a:srgbClr val="B540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FOUR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62000" y="3742730"/>
            <a:ext cx="7842060" cy="2217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800" b="1" dirty="0">
                <a:solidFill>
                  <a:srgbClr val="F3EDE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これからの 学び方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762000" y="6150571"/>
            <a:ext cx="784206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F3EDE1">
                    <a:alpha val="70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AIが広がるほど、人間の主体性が価値を生む。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62000" y="8959850"/>
            <a:ext cx="784206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F3EDE1">
                    <a:alpha val="5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 / 21 · AI MINDSET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9906001" y="3162300"/>
            <a:ext cx="7848600" cy="400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9000" spc="-1560" kern="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04</a:t>
            </a:r>
            <a:endParaRPr lang="en-US" sz="39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23854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CHAPTER 4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298" y="419100"/>
            <a:ext cx="147072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これからの学び方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977494" y="419100"/>
            <a:ext cx="177710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Two Types of People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333500"/>
            <a:ext cx="15697200" cy="1375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AIが広がるほど、人間の「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主体性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」と「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B5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継続する姿勢 </a:t>
            </a:r>
            <a:pPr algn="l" indent="0" marL="0">
              <a:lnSpc>
                <a:spcPct val="135000"/>
              </a:lnSpc>
              <a:buNone/>
            </a:pPr>
            <a:r>
              <a:rPr lang="en-US" sz="3900" b="1" spc="39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」が価値を生む。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09600" y="2937470"/>
            <a:ext cx="8534400" cy="2778125"/>
          </a:xfrm>
          <a:prstGeom prst="rect">
            <a:avLst/>
          </a:prstGeom>
          <a:solidFill>
            <a:srgbClr val="ECE4D3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2937470"/>
            <a:ext cx="8534400" cy="25400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229570"/>
            <a:ext cx="800557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 を 使う 人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7250" y="3858220"/>
            <a:ext cx="7981950" cy="162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目的を自分で決める</a:t>
            </a:r>
            <a:endParaRPr lang="en-US" sz="15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出力を検証する</a:t>
            </a:r>
            <a:endParaRPr lang="en-US" sz="15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責任を引き受ける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0" y="2937470"/>
            <a:ext cx="8534400" cy="254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0" y="3229570"/>
            <a:ext cx="800557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 に 使われる 人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91650" y="3858220"/>
            <a:ext cx="7981950" cy="162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AIの提案に流される</a:t>
            </a:r>
            <a:endParaRPr lang="en-US" sz="15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そのまま信じる</a:t>
            </a:r>
            <a:endParaRPr lang="en-US" sz="15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AIのせいにする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600" y="6096595"/>
            <a:ext cx="54356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6274396"/>
            <a:ext cx="55986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小さく試す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600" y="6674446"/>
            <a:ext cx="5598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1日1タスクから。全自動化を目指さない。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26200" y="6096595"/>
            <a:ext cx="54356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8" name="Text 16"/>
          <p:cNvSpPr/>
          <p:nvPr/>
        </p:nvSpPr>
        <p:spPr>
          <a:xfrm>
            <a:off x="6426200" y="6274396"/>
            <a:ext cx="55986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学び続ける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26200" y="6674446"/>
            <a:ext cx="5598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半年で常識が変わる。完璧を目指さない。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242800" y="6096595"/>
            <a:ext cx="54356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21" name="Text 19"/>
          <p:cNvSpPr/>
          <p:nvPr/>
        </p:nvSpPr>
        <p:spPr>
          <a:xfrm>
            <a:off x="12242800" y="6274396"/>
            <a:ext cx="55986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人間らしさを磨く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242800" y="6674446"/>
            <a:ext cx="5598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問いを立てる力・責任・信頼関係が残る。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24" name="Text 22"/>
          <p:cNvSpPr/>
          <p:nvPr/>
        </p:nvSpPr>
        <p:spPr>
          <a:xfrm>
            <a:off x="609600" y="9652000"/>
            <a:ext cx="125789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§1 TWO TYPES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8974138" y="9620250"/>
            <a:ext cx="7119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20 / 21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6792774" y="9655175"/>
            <a:ext cx="96182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主体性 × 継続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7937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1002209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38" kern="0" dirty="0">
                <a:solidFill>
                  <a:srgbClr val="14121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CLOSING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668959" y="419100"/>
            <a:ext cx="105896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TAKEAWAY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6417826" y="419100"/>
            <a:ext cx="133677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spc="113" kern="0" dirty="0">
                <a:solidFill>
                  <a:srgbClr val="2A2521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End of Issue 01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09600" y="1428750"/>
            <a:ext cx="17580864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0" kern="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 · A · K · E · A · W · A · 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9600" y="1930400"/>
            <a:ext cx="17580864" cy="112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今日から</a:t>
            </a:r>
            <a:pPr algn="l" indent="0" marL="0">
              <a:lnSpc>
                <a:spcPct val="110000"/>
              </a:lnSpc>
              <a:buNone/>
            </a:pPr>
            <a:r>
              <a:rPr lang="en-US" sz="7200" i="1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変えること</a:t>
            </a:r>
            <a:pPr algn="l" indent="0" marL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、3つ。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609600" y="3393381"/>
            <a:ext cx="5435600" cy="381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3660081"/>
            <a:ext cx="559866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01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09600" y="4574481"/>
            <a:ext cx="5598668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鵜呑みにしない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5153521"/>
            <a:ext cx="559866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35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重要な情報は必ず検証する。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26200" y="3393381"/>
            <a:ext cx="5435600" cy="381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200" y="3660081"/>
            <a:ext cx="559866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426200" y="4574481"/>
            <a:ext cx="5598668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コンテキストを渡す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426200" y="5153521"/>
            <a:ext cx="559866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35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役割・目的・制約・形式を伝える。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242800" y="3393381"/>
            <a:ext cx="5435600" cy="381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17" name="Text 15"/>
          <p:cNvSpPr/>
          <p:nvPr/>
        </p:nvSpPr>
        <p:spPr>
          <a:xfrm>
            <a:off x="12242800" y="3660081"/>
            <a:ext cx="559866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B5401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12242800" y="4574481"/>
            <a:ext cx="5598668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小さく試す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2242800" y="5153521"/>
            <a:ext cx="559866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350" dirty="0">
                <a:solidFill>
                  <a:srgbClr val="2A25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1日1タスクから始める。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9600" y="855345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21" name="Text 19"/>
          <p:cNvSpPr/>
          <p:nvPr/>
        </p:nvSpPr>
        <p:spPr>
          <a:xfrm>
            <a:off x="609600" y="8788400"/>
            <a:ext cx="17580864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7A2A1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AIは道具です。使いこなすのも、振り回されるのも、自分次第。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09600" y="9461500"/>
            <a:ext cx="17068800" cy="9525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" y="9652000"/>
            <a:ext cx="34468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B62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8577064" y="9620250"/>
            <a:ext cx="6972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141210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21 / 21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897053" y="9655175"/>
            <a:ext cx="85754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spc="78" kern="0" dirty="0">
                <a:solidFill>
                  <a:srgbClr val="6B6259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Thank you.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2026-04-21T08:17:34Z</dcterms:created>
  <dcterms:modified xsi:type="dcterms:W3CDTF">2026-04-21T08:17:34Z</dcterms:modified>
</cp:coreProperties>
</file>