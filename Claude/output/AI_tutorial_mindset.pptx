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AIとの付き合い方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2606040"/>
            <a:ext cx="18288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8346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7A9C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使いこなす前に知っておきたい、心構えと基本原則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AI初心者向けチュートリアル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本日のゴールは、AIを「正しく怖がり、正しく使う」姿勢を身につけること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060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548640" cy="0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77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AIの正体を知る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仕組みと限界を理解し、過度な期待も恐怖も手放す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6060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429000" y="2240280"/>
            <a:ext cx="548640" cy="0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2377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3つの原則を身につける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28803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鵜呑みにしない／丸投げしない／育てる意識を持つ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463040"/>
            <a:ext cx="26060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17920" y="2240280"/>
            <a:ext cx="548640" cy="0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377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明日から試せる武器を持ち帰る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28803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対話の型・小さな一歩・継続する姿勢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B3A6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「使い方」より「向き合い方」を学ぶ講座です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400" kern="0" dirty="0">
                <a:solidFill>
                  <a:srgbClr val="7A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H A P T E R   1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31520" y="2331720"/>
            <a:ext cx="109728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514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AIとは何か ― まず正体を知る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AIは「魔法」ではなく、次にくる言葉を確率で選ぶ予測機である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657600" cy="3108960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8CCE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確率的予測機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Probabilistic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Predictor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9144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918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C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膨大なテキストから「それっぽい続き」を生成する装置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0" y="10972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ここがポイント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1554480"/>
            <a:ext cx="73152" cy="7315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554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「理解」していない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18470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文の意味を把握しているのではなく、統計的にありそうな単語を並べているだけ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2423160"/>
            <a:ext cx="73152" cy="7315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423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「意図」もない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27157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あなたを助けたい・だましたいといった動機は持たない。ただ確率計算を回している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89120" y="3291840"/>
            <a:ext cx="73152" cy="7315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291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だから嘘もつく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35844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「知らない」と答えるのが苦手で、知らないことでも堂々と答える（= ハルシネーション）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AIには明確な得意分野と苦手分野がある ― 適材適所で使う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◎ 得意なこと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41148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188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✕ 苦手なこと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600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文章生成・要約・翻訳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39319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057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アイデア出し・たたき台作成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514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形式変換（表 ↔ 文章 ↔ コード）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39319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971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壁打ち相手・文章添削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429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大量テキストの読解補助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600200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600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厳密な計算・正確な数値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057400"/>
            <a:ext cx="39319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057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最新情報（学習時点以降）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514600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514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事実・出典の保証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971800"/>
            <a:ext cx="39319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971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あなたの組織・個人の事情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429000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429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価値判断・最終意思決定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B3A6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「何でも聞ける魔法」ではなく、「得意分野が明確な専門家」として扱う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AIは「知識豊富だが、あなたの事情を知らない新人」と考える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097280" y="12344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優秀な新入社員に仕事を頼むとき、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何も説明せずに丸投げしますか？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2606040" cy="155448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0"/>
            <a:ext cx="73152" cy="1554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529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知識は豊富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21868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幅広い分野の情報を持つが、網羅的・最新ではない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2743200"/>
            <a:ext cx="2606040" cy="155448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2743200"/>
            <a:ext cx="73152" cy="1554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28529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あなたを知らない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321868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あなたの組織・顧客・目的・好みを知らない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2743200"/>
            <a:ext cx="2606040" cy="155448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2743200"/>
            <a:ext cx="73152" cy="1554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8529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指示で応えてくれる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321868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背景・目的・制約を伝えれば的確に返してくれる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400" kern="0" dirty="0">
                <a:solidFill>
                  <a:srgbClr val="7A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H A P T E R   2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31520" y="2331720"/>
            <a:ext cx="109728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514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AIと向き合う3つの原則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原則① 鵜呑みにしない ― AIは平気で「もっともらしい嘘」をつく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10896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よくある「嘘」の例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存在しない論文・書籍を堂々と引用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1945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実在しない判例・法律条文を提示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697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古い統計を「最新」と称して出す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200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200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実在しないURL・API・関数名を生成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検証の習慣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1554480"/>
            <a:ext cx="73152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5544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一次ソース確認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18288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重要な情報は必ず公式・原典で裏を取る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2194560"/>
            <a:ext cx="73152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1945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数字・固有名詞に注意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24688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統計値・人名・日付・製品名は特に誤りやすい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0" y="2834640"/>
            <a:ext cx="73152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8346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聞き返す癖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3108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「それは本当に正しい？」「出典は？」を繰り返す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0" y="3474720"/>
            <a:ext cx="73152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474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専門領域では過信しない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749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医療・法律・税務は必ず専門家に確認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原則② 丸投げしない ― AIは判断者ではなく、あくまで補助者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8888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AIに聞いたから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ではなく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6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「自分がAIを使って、こう判断した」が正解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2606040" cy="14173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926080"/>
            <a:ext cx="2606040" cy="3200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やりがちなNG: 丸写し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3832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出力をそのまま上司や顧客に提出する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2926080"/>
            <a:ext cx="2606040" cy="14173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2926080"/>
            <a:ext cx="2606040" cy="3200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やりがちなNG: 流される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33832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AIの提案が最適と思い込み、自分で考えない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2926080"/>
            <a:ext cx="2606040" cy="14173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2926080"/>
            <a:ext cx="2606040" cy="3200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やりがちなNG: 責任転嫁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33832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「AIがそう言った」で失敗を片付ける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原則③ 育てる意識を持つ ― 対話を重ねるほど精度は上がる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10896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マインドセットの転換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検索エンジンの発想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一発で正解を引く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AIとの付き合い方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対話で精度を上げる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精度が上がるプロセス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1600200"/>
            <a:ext cx="365760" cy="3657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74920" y="160020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最初の出力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18288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60点のたたき台として受け取る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2240280"/>
            <a:ext cx="365760" cy="3657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224028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修正指示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4920" y="24688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「もっと〜に」「〜は削って」と伝える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2880360"/>
            <a:ext cx="365760" cy="3657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74920" y="288036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再出力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74920" y="31089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80点まで上がる。必要なら繰り返す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0" y="3520440"/>
            <a:ext cx="365760" cy="3657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74920" y="352044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完成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74920" y="37490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自分の意図と合致した成果物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失敗のほとんどは、AIの性能ではなく使う側の姿勢が原因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0604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2606040" cy="548640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97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8C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10972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コピペ事故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症状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0574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出力を確認せず、そのまま使って誤情報を拡散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22860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108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必ず検証してから使う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1097280"/>
            <a:ext cx="260604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1097280"/>
            <a:ext cx="2606040" cy="548640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1097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8C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160520" y="10972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曖昧指示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29000" y="1828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症状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29000" y="20574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「いい感じに」だけで期待外れ → AIのせいにする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29000" y="3017520"/>
            <a:ext cx="22860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3108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29000" y="33375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目的・制約・形式を明示する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1097280"/>
            <a:ext cx="260604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1097280"/>
            <a:ext cx="2606040" cy="548640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0972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8C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49440" y="10972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エラー放置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17920" y="1828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症状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17920" y="20574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うまくいかないとすぐ諦める・AIを見限る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17920" y="3017520"/>
            <a:ext cx="22860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3108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17920" y="33375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言い方を変えれば解決することが多い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B3A6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ツールではなく、自分の使い方を疑う習慣が成長の近道です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「便利」で境界を越えると信用を失う ― 使わない勇気も心構え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機密・個人情報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会社の機密データ、顧客個人情報は原則として入力しない。社内ルールを確認する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専門判断の最終化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83480" y="16459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医療・法律・税務・投資の最終決定。必ず資格を持つ専門家に確認する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393192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788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人を評価する文章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2004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人事評価・採用合否・叱責など、人間関係の重要判断を丸投げしない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2651760"/>
            <a:ext cx="393192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2788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ルール違反になる場面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32004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試験・論文・著作物の規約違反になる使い方は、信用と将来を失う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使っていい場面と、使ってはいけない場面の線引きは、使う側の責任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「便利」と「正しい」は別問題 ― 技術は先に、ルールは後から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73152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入力データの扱い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3898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入力した内容が学習に使われる可能性がある。機密はサービス規約を確認してから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73152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105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著作権とAI生成物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生成物の著作権はまだグレー。商用利用時は特に注意が必要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23744"/>
            <a:ext cx="73152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237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AI利用の明示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8163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AIが書いたことを隠すべきでない場面がある（学術・報道・契約など）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36976"/>
            <a:ext cx="73152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369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バイアスと差別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5295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学習データに含まれる偏見がそのまま出力される。最終チェックは人間の責任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77840" y="1097280"/>
            <a:ext cx="3108960" cy="3017520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A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60720" y="16459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これは、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人に見せられる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使い方か？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760720" y="3200400"/>
            <a:ext cx="731520" cy="0"/>
          </a:xfrm>
          <a:prstGeom prst="line">
            <a:avLst/>
          </a:prstGeom>
          <a:noFill/>
          <a:ln w="12700">
            <a:solidFill>
              <a:srgbClr val="B8CC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3383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8CC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判断に迷ったら、この問いを自分に投げかける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400" kern="0" dirty="0">
                <a:solidFill>
                  <a:srgbClr val="7A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H A P T E R   3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31520" y="2331720"/>
            <a:ext cx="109728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514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基本的な対話の考え方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「役割・目的・制約・出力形式」の4要素で回答の質が2〜3倍に上がる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051560" y="1280160"/>
            <a:ext cx="914400" cy="9144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役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役割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6974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「あなたはプロの編集者です」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「小学校の先生として答えて」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1280160"/>
            <a:ext cx="914400" cy="914400"/>
          </a:xfrm>
          <a:prstGeom prst="ellipse">
            <a:avLst/>
          </a:prstGeom>
          <a:solidFill>
            <a:srgbClr val="3D6098"/>
          </a:solidFill>
          <a:ln w="12700">
            <a:solidFill>
              <a:srgbClr val="3D609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的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6032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目的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97480" y="26974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「初心者向けの記事にしたい」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「意思決定の材料が欲しい」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57800" y="1280160"/>
            <a:ext cx="914400" cy="914400"/>
          </a:xfrm>
          <a:prstGeom prst="ellipse">
            <a:avLst/>
          </a:prstGeom>
          <a:solidFill>
            <a:srgbClr val="7A9CC6"/>
          </a:solidFill>
          <a:ln w="12700">
            <a:solidFill>
              <a:srgbClr val="7A9C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制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6344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制約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00600" y="26974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「500字以内」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「専門用語は避ける」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60920" y="1280160"/>
            <a:ext cx="914400" cy="914400"/>
          </a:xfrm>
          <a:prstGeom prst="ellipse">
            <a:avLst/>
          </a:prstGeom>
          <a:solidFill>
            <a:srgbClr val="3D6098"/>
          </a:solidFill>
          <a:ln w="12700">
            <a:solidFill>
              <a:srgbClr val="3D609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0920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形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76656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出力形式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03720" y="26974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「見出し3つ+本文」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「表形式で」「箇条書きで」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B3A6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4つ全部を入れるのが面倒なら、まず「目的」と「出力形式」の2つから始めてください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AIは空気を読めない ― あなたの頭の中を具体的に言語化する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41148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✕ 曖昧な指示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188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◎ 具体的な指示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3931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600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「いい感じにして」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0" y="16002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54880" y="1600200"/>
            <a:ext cx="3931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600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「30代女性向けに、親しみやすい口調で」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3931920" cy="54864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194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「短くして」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21945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754880" y="2194560"/>
            <a:ext cx="3931920" cy="54864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194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「200字以内に要約して」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788920"/>
            <a:ext cx="3931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7889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「直して」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89120" y="27889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754880" y="2788920"/>
            <a:ext cx="3931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7889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「敬語を統一し、重複表現を削って」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383280"/>
            <a:ext cx="3931920" cy="54864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3832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「考えて」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89120" y="33832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754880" y="3383280"/>
            <a:ext cx="3931920" cy="54864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3832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「3案出して、メリット・デメリットを並べて」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コンテキスト量 × 反復回数 ＝ AI活用力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10896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97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① コンテキストを渡す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背景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17320" y="1737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なぜこれをやるのか、何に使うのか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3042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前提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23042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読み手は誰か、どの程度の知識レベルか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8712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制約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17320" y="287121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使ってはいけない表現、参考にするトーン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4381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例示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17320" y="343814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「こういう感じで」というサンプルを添える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3931920" cy="310896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097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② 繰り返しで精度をあげる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一発勝負ではなく反復が前提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210312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12080" y="2103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「もっとカジュアルに」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2487168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0" y="24871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「〇〇の観点を追加して」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2871216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12080" y="287121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「この部分だけ残して書き直して」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83480" y="3255264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12080" y="32552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「半分の長さにして」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3703320"/>
            <a:ext cx="36576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プロの料理人も、一発で味を決めず何度も味見する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明日から使えるプロンプトテンプレート ― コピーして、穴を埋めるだけ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029200" cy="3108960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A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CCE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【役割】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65960" y="1691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あなたは〇〇の専門家です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1305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CCE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【目的】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65960" y="21305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△△を作りたい / 知りたい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56946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CCE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【前提】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65960" y="25694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読み手は□□、〜という背景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00837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CCE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【制約】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65960" y="30083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・〜すること  ・〜は避けること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4472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CCE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【出力形式】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65960" y="34472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見出し+箇条書き、◇◇字以内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使い方のヒント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0" y="16002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6928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メモ帳に貼って保存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0" y="22402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69280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タスクごとに穴を埋める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0" y="28803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慣れたら省略OK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0" y="35204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69280" y="3749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自分なりの型に進化させる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400" kern="0" dirty="0">
                <a:solidFill>
                  <a:srgbClr val="7A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H A P T E R   4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31520" y="2331720"/>
            <a:ext cx="109728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514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これからの学び方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8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AIが広がるほど、人間の「主体性」と「継続する姿勢」が価値を生む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AIを使う人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4747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097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AIに使われる人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536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目的を自分で決める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出力を検証する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121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B1F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責任を引き受ける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92040" y="1536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AIの提案に流される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9204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そのまま信じる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92040" y="2121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AIのせいにする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2606040" cy="1645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468880"/>
            <a:ext cx="2606040" cy="91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697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小さく試す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32004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1日1タスクから。全自動化を目指さない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46120" y="2468880"/>
            <a:ext cx="2606040" cy="1645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6120" y="2468880"/>
            <a:ext cx="2606040" cy="91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2697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学び続ける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29000" y="32004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半年で常識が変わる。完璧を目指さない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35040" y="2468880"/>
            <a:ext cx="2606040" cy="1645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2468880"/>
            <a:ext cx="2606040" cy="91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2697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人間らしさを磨く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17920" y="32004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問いを立てる力・責任・信頼関係が残る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7A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A K E A W A Y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09728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今日から変えること、3つ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7A9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54480" y="2377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鵜呑みにしない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6791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C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重要な情報は必ず検証する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7A9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54480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コンテキストを渡す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33649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C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役割・目的・制約・形式を伝える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7A9C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554480" y="3749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小さく試す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40507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8CC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1日1タスクから始める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A9CC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AIは道具です。使いこなすのも、振り回されるのも、自分次第。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AIとの付き合い方</dc:title>
  <dc:subject>PptxGenJS Presentation</dc:subject>
  <dc:creator>AIリテラシー講座</dc:creator>
  <cp:lastModifiedBy>AIリテラシー講座</cp:lastModifiedBy>
  <cp:revision>1</cp:revision>
  <dcterms:created xsi:type="dcterms:W3CDTF">2026-04-18T01:04:01Z</dcterms:created>
  <dcterms:modified xsi:type="dcterms:W3CDTF">2026-04-18T01:04:01Z</dcterms:modified>
</cp:coreProperties>
</file>